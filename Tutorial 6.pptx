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A0B1F-88F0-48D5-9EB4-1EFAA62881A1}" v="3" dt="2026-01-26T10:20:30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Wagner" userId="299fb8deca5794aa" providerId="LiveId" clId="{8BDD2595-85F1-4A87-BAB2-4985FFFD9548}"/>
    <pc:docChg chg="undo custSel addSld delSld modSld sldOrd">
      <pc:chgData name="Maximilian Wagner" userId="299fb8deca5794aa" providerId="LiveId" clId="{8BDD2595-85F1-4A87-BAB2-4985FFFD9548}" dt="2026-01-26T10:20:30.473" v="3387" actId="1076"/>
      <pc:docMkLst>
        <pc:docMk/>
      </pc:docMkLst>
      <pc:sldChg chg="addSp delSp modSp new mod">
        <pc:chgData name="Maximilian Wagner" userId="299fb8deca5794aa" providerId="LiveId" clId="{8BDD2595-85F1-4A87-BAB2-4985FFFD9548}" dt="2026-01-26T10:20:30.473" v="3387" actId="1076"/>
        <pc:sldMkLst>
          <pc:docMk/>
          <pc:sldMk cId="3489263712" sldId="275"/>
        </pc:sldMkLst>
        <pc:spChg chg="del">
          <ac:chgData name="Maximilian Wagner" userId="299fb8deca5794aa" providerId="LiveId" clId="{8BDD2595-85F1-4A87-BAB2-4985FFFD9548}" dt="2026-01-26T10:20:26.590" v="3384" actId="478"/>
          <ac:spMkLst>
            <pc:docMk/>
            <pc:sldMk cId="3489263712" sldId="275"/>
            <ac:spMk id="2" creationId="{A7E26ADC-A526-629C-F7F7-E38F5D9A28C9}"/>
          </ac:spMkLst>
        </pc:spChg>
        <pc:spChg chg="del">
          <ac:chgData name="Maximilian Wagner" userId="299fb8deca5794aa" providerId="LiveId" clId="{8BDD2595-85F1-4A87-BAB2-4985FFFD9548}" dt="2026-01-26T10:20:25.002" v="3383" actId="478"/>
          <ac:spMkLst>
            <pc:docMk/>
            <pc:sldMk cId="3489263712" sldId="275"/>
            <ac:spMk id="3" creationId="{D489B4D7-89D5-C844-A583-737BD7DDE667}"/>
          </ac:spMkLst>
        </pc:spChg>
        <pc:picChg chg="add mod">
          <ac:chgData name="Maximilian Wagner" userId="299fb8deca5794aa" providerId="LiveId" clId="{8BDD2595-85F1-4A87-BAB2-4985FFFD9548}" dt="2026-01-26T10:20:30.473" v="3387" actId="1076"/>
          <ac:picMkLst>
            <pc:docMk/>
            <pc:sldMk cId="3489263712" sldId="275"/>
            <ac:picMk id="1026" creationId="{4F25EDD0-71C0-9D18-3FCC-92C4BBEB71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45A1E-C5A2-620A-A6FE-C50F321A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A69FD-3F1B-9FF5-FA27-FB74FE41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7751EA-CE4F-0632-FAAD-053EF915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20AA23-1919-BFCA-3AE4-F868953E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393E0F-0294-B90E-ED48-C78E3DAC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1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CD6AD-DCEC-6320-7FB6-4282A70D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972B5-8B3F-077E-7727-FDF5D0A1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A8B09-A857-7B28-6B18-EBADD307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7D121-B4C5-F70E-AB08-43F1B273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9EB91-B012-0A54-C249-5E2EFF7B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7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9373E-BDA9-035C-6A2A-A367A3CA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9ECE4F-013E-818A-F88C-A1BE04A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1F99E1-3668-D8B1-30FF-1285372F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412D6-7712-1A84-855B-667E916E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E2AEA-C6E7-FC74-4B16-2F2ED5A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41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AD007-7BEF-64FE-79F0-1B093C35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F7B9F-B71F-41E2-5424-5E57EB078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A636CA-59E7-45C7-5CC9-E50BB72EC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16FC04-7196-1D06-EF22-8BAA6E33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C816EA-295D-6BEF-7277-8D84923D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86A50-E7A9-4530-F480-803DFE2A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0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411C5-F986-90EE-467C-DB37133A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0E695F-3431-3826-409F-46FAECA0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BA8C2F-7BBE-4173-E3C7-32FC776F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86C516-7290-B50B-DEED-8553B915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4A630B-5758-3346-F088-42EF3C43C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492E5-20EE-09F8-E532-65384123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38F027-6657-7EFD-1D32-8C4DADCE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0B6FBE-0E7D-8190-F83A-CA51F31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0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05F61-625D-0B6F-71F8-308DAC72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F30595-1784-4A0E-607D-2F95304B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18443A-5ABC-0C9D-0487-A4901EC2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225459-B893-5016-FFEF-EFDE18D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98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1ABF77-8C32-2FF5-EAE6-A6DE3C6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B2AE3-A7CE-A6CC-B174-81F348CF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E7D533-9776-E0C1-2A7D-26F4CF6C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6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43BC1-4E5C-D313-6DD7-F2B603A0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E1690-3213-CA21-D4A3-F39FF530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3306B4-A69B-B2BA-E445-E781AE4FD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8DCC38-F7D2-E729-BCEF-CE39F224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1BD28A-D476-4044-DBE4-85E6E3E6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39C6C6-8B05-1335-A969-1B32020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0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7DC31-BF45-FD94-E2DF-12F1E5A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5A025-50BE-86C9-8FFB-A77B401B1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C6C717-7DFF-9BE1-C56E-9F78A5FA6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56401F-2839-9BB9-420B-733F4F9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ED15FA-BF25-93B4-4F4B-38B5FDE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610691-5B0B-D371-7A14-D6A2D5B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57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62CD-92FB-683E-DBDE-F3241932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32C11B-23EF-A154-9704-BFBBE997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94E736-A41B-6BAA-ABB6-2AF5864A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AC03A-3FE8-22D7-BF79-0A5893A3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132E1-6388-1794-570B-DAECE100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73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C83E610-9B12-C840-BF46-E4841EBF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5C53B9-1E39-A624-9FB6-185AA99A8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252F40-14F2-B02C-3094-F7040209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7CD4E-E32B-DE17-F02D-8DA7DAB1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4261E8-2C24-45C7-7A44-6BA4CC1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69DBD-BC5C-23BE-9347-4DA14047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83DDA-E123-8A64-BA1F-31125E74E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7A4FE-1D2C-3570-7971-72B42E558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FC414-7A6C-4B23-8128-F2E69093C0B3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632DF-AC06-88C6-FDE1-DA91F69DD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CC61E-BBD3-28D7-4426-41AF5FD2B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22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CAD5-2216-60D0-CC1F-69C866AF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10B63-78D5-6931-482D-D08108447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260471-F60F-CB78-8993-67000BA94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tummaximilian.wagner@tum.de</a:t>
            </a:r>
          </a:p>
        </p:txBody>
      </p:sp>
    </p:spTree>
    <p:extLst>
      <p:ext uri="{BB962C8B-B14F-4D97-AF65-F5344CB8AC3E}">
        <p14:creationId xmlns:p14="http://schemas.microsoft.com/office/powerpoint/2010/main" val="59429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9A397-5C22-159D-9142-9C97D8C3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88A4021-DA45-A7E5-D376-BA8D80F1BA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de-DE" b="1" dirty="0"/>
                  <a:t> Ziel der linearen Regression</a:t>
                </a:r>
              </a:p>
              <a:p>
                <a:pPr marL="914400" lvl="2" indent="0">
                  <a:buNone/>
                </a:pPr>
                <a:r>
                  <a:rPr lang="de-DE" dirty="0"/>
                  <a:t>Zusammenhang zwischen</a:t>
                </a:r>
              </a:p>
              <a:p>
                <a:pPr marL="914400" lvl="2" indent="0">
                  <a:buNone/>
                </a:pPr>
                <a:r>
                  <a:rPr lang="de-DE" b="1" dirty="0"/>
                  <a:t>Eingangsvariable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dirty="0"/>
              </a:p>
              <a:p>
                <a:pPr marL="914400" lvl="2" indent="0">
                  <a:buNone/>
                </a:pPr>
                <a:r>
                  <a:rPr lang="de-DE" b="1" dirty="0"/>
                  <a:t>Zielvariable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b="1" dirty="0"/>
                  <a:t>Modellannahmen </a:t>
                </a:r>
              </a:p>
              <a:p>
                <a:pPr marL="457200" lvl="1" indent="0">
                  <a:buNone/>
                </a:pPr>
                <a:r>
                  <a:rPr lang="de-DE" b="1" dirty="0"/>
                  <a:t>	</a:t>
                </a:r>
                <a:r>
                  <a:rPr lang="de-DE" dirty="0"/>
                  <a:t>Linearer Zusammenhang (zu Parametern), Unabhängige 	Beobachtungen, Fehler mit Erwartungswert 0, Konstante Varianz 	(Homoskedastizität)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b="1" dirty="0"/>
                  <a:t>Matrixnotation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b="1" dirty="0" err="1"/>
                  <a:t>Gütemaße</a:t>
                </a:r>
                <a:endParaRPr lang="de-DE" b="1" dirty="0"/>
              </a:p>
              <a:p>
                <a:pPr marL="457200" lvl="1" indent="0">
                  <a:buNone/>
                </a:pPr>
                <a:r>
                  <a:rPr lang="de-DE" b="1" dirty="0"/>
                  <a:t>	</a:t>
                </a:r>
                <a:r>
                  <a:rPr lang="de-DE" dirty="0"/>
                  <a:t>MSE, RMSE, SSR (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squared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88A4021-DA45-A7E5-D376-BA8D80F1B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7D464C27-2CF8-CEA6-AE6B-AFA4F7C07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542" y="4392978"/>
            <a:ext cx="2549770" cy="1092759"/>
          </a:xfrm>
          <a:prstGeom prst="rect">
            <a:avLst/>
          </a:prstGeom>
        </p:spPr>
      </p:pic>
      <p:pic>
        <p:nvPicPr>
          <p:cNvPr id="8" name="Grafik 7" descr="Ein Bild, das Schrift, Text, weiß, Diagramm enthält.&#10;&#10;KI-generierte Inhalte können fehlerhaft sein.">
            <a:extLst>
              <a:ext uri="{FF2B5EF4-FFF2-40B4-BE49-F238E27FC236}">
                <a16:creationId xmlns:a16="http://schemas.microsoft.com/office/drawing/2014/main" id="{72F5A9CD-942A-359B-8BC7-D455D8102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883" y="5187371"/>
            <a:ext cx="2234261" cy="832372"/>
          </a:xfrm>
          <a:prstGeom prst="rect">
            <a:avLst/>
          </a:prstGeom>
        </p:spPr>
      </p:pic>
      <p:pic>
        <p:nvPicPr>
          <p:cNvPr id="4" name="Grafik 3" descr="Ein Bild, das Schrift, Text, weiß, Reihe enthält.&#10;&#10;KI-generierte Inhalte können fehlerhaft sein.">
            <a:extLst>
              <a:ext uri="{FF2B5EF4-FFF2-40B4-BE49-F238E27FC236}">
                <a16:creationId xmlns:a16="http://schemas.microsoft.com/office/drawing/2014/main" id="{CAD3957B-A539-F0BE-3CC5-761CC90DDC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3130"/>
          <a:stretch>
            <a:fillRect/>
          </a:stretch>
        </p:blipFill>
        <p:spPr>
          <a:xfrm>
            <a:off x="6814664" y="1810082"/>
            <a:ext cx="3248226" cy="4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4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F845-53A8-3EEA-2B4F-8D48AA9E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D0F99-3A0C-B5D3-6BD8-96E2E00B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Logistische Regression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A1E9A2-F2F6-6722-F79A-464F85C91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b="1" dirty="0"/>
              <a:t> Ziel der logistische Regression</a:t>
            </a:r>
          </a:p>
          <a:p>
            <a:pPr lvl="1"/>
            <a:r>
              <a:rPr lang="de-DE" sz="1900" dirty="0"/>
              <a:t>Binäre Zielvariable (wahr 1 oder falsch 0) P(y=1|x)</a:t>
            </a:r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Modelannahmen</a:t>
            </a:r>
          </a:p>
          <a:p>
            <a:pPr lvl="1"/>
            <a:r>
              <a:rPr lang="de-DE" sz="1900" dirty="0"/>
              <a:t>Binäre Zielvariable, linear den log-odds, unabhängige Beobachtung</a:t>
            </a:r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Kostenfunktion</a:t>
            </a:r>
          </a:p>
          <a:p>
            <a:pPr lvl="1"/>
            <a:r>
              <a:rPr lang="de-DE" sz="1900" dirty="0"/>
              <a:t>Minimierung der Kostenfunktion</a:t>
            </a:r>
          </a:p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Gütemaße</a:t>
            </a:r>
            <a:endParaRPr lang="de-DE" b="1" dirty="0"/>
          </a:p>
          <a:p>
            <a:pPr marL="457200" lvl="1" indent="0">
              <a:buNone/>
            </a:pPr>
            <a:r>
              <a:rPr lang="de-DE" b="1" dirty="0"/>
              <a:t>	</a:t>
            </a:r>
            <a:r>
              <a:rPr lang="de-DE" dirty="0"/>
              <a:t>MSE, RMSE, SSR (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squared</a:t>
            </a:r>
            <a:r>
              <a:rPr lang="de-DE" dirty="0"/>
              <a:t> </a:t>
            </a:r>
            <a:r>
              <a:rPr lang="de-DE" dirty="0" err="1"/>
              <a:t>residuals</a:t>
            </a:r>
            <a:r>
              <a:rPr lang="de-DE" dirty="0"/>
              <a:t>)</a:t>
            </a:r>
          </a:p>
        </p:txBody>
      </p:sp>
      <p:pic>
        <p:nvPicPr>
          <p:cNvPr id="6" name="Grafik 5" descr="Ein Bild, das Schrift, Text, weiß, Reihe enthält.&#10;&#10;KI-generierte Inhalte können fehlerhaft sein.">
            <a:extLst>
              <a:ext uri="{FF2B5EF4-FFF2-40B4-BE49-F238E27FC236}">
                <a16:creationId xmlns:a16="http://schemas.microsoft.com/office/drawing/2014/main" id="{426D8F5B-78DC-8441-7B0C-4CC1FADE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089" y="2062162"/>
            <a:ext cx="2837924" cy="1072104"/>
          </a:xfrm>
          <a:prstGeom prst="rect">
            <a:avLst/>
          </a:prstGeom>
        </p:spPr>
      </p:pic>
      <p:pic>
        <p:nvPicPr>
          <p:cNvPr id="1026" name="Picture 2" descr="Logistic Regression">
            <a:extLst>
              <a:ext uri="{FF2B5EF4-FFF2-40B4-BE49-F238E27FC236}">
                <a16:creationId xmlns:a16="http://schemas.microsoft.com/office/drawing/2014/main" id="{2EBE5A68-18C3-0E86-1991-38A5EE939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539" y="365125"/>
            <a:ext cx="2924175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2591F81-E47E-690B-4079-3F2B68C48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89" y="4001294"/>
            <a:ext cx="3029373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2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262C-ED57-5C9E-4337-E9D6861A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68C694-AFC2-7B3B-A344-08E9E901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Schätzer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613E2F-B637-D093-12EB-05D4FB93F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de-DE" b="1" dirty="0"/>
              <a:t>MAP – Maximum A Posteriori</a:t>
            </a:r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r>
              <a:rPr lang="de-DE" b="1" dirty="0"/>
              <a:t>ML - Maximum </a:t>
            </a:r>
            <a:r>
              <a:rPr lang="de-DE" b="1" dirty="0" err="1"/>
              <a:t>Likelihood</a:t>
            </a:r>
            <a:r>
              <a:rPr lang="de-DE" b="1" dirty="0"/>
              <a:t> Schätzer</a:t>
            </a:r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endParaRPr lang="de-DE" b="1" dirty="0"/>
          </a:p>
          <a:p>
            <a:pPr marL="457200" lvl="1" indent="0">
              <a:buNone/>
            </a:pPr>
            <a:r>
              <a:rPr lang="de-DE" dirty="0"/>
              <a:t>ML verlässt sich nur auf Daten, MAP kombiniert Daten mit Vorwissen.</a:t>
            </a:r>
            <a:r>
              <a:rPr lang="de-DE" b="1" dirty="0"/>
              <a:t>	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D03BA99-F8DE-1157-70CB-0F10F6F48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28" y="4229798"/>
            <a:ext cx="3735847" cy="75418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2BBFA37-C616-1AE1-025B-565073BD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291" y="2211461"/>
            <a:ext cx="3823483" cy="648047"/>
          </a:xfrm>
          <a:prstGeom prst="rect">
            <a:avLst/>
          </a:prstGeom>
        </p:spPr>
      </p:pic>
      <p:pic>
        <p:nvPicPr>
          <p:cNvPr id="10" name="Grafik 9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71D49BF5-2FF7-4CE3-ADD1-E69BC0186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106" y="2079489"/>
            <a:ext cx="5385843" cy="222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1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F25EDD0-71C0-9D18-3FCC-92C4BBEB7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060" y="2336292"/>
            <a:ext cx="681037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263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Breitbild</PresentationFormat>
  <Paragraphs>33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</vt:lpstr>
      <vt:lpstr>Tutorial 6</vt:lpstr>
      <vt:lpstr>Lineare Regression</vt:lpstr>
      <vt:lpstr>Logistische Regression</vt:lpstr>
      <vt:lpstr>Schätzer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Wagner</dc:creator>
  <cp:lastModifiedBy>Maximilian Wagner</cp:lastModifiedBy>
  <cp:revision>1</cp:revision>
  <dcterms:created xsi:type="dcterms:W3CDTF">2025-10-17T12:10:01Z</dcterms:created>
  <dcterms:modified xsi:type="dcterms:W3CDTF">2026-01-26T10:20:31Z</dcterms:modified>
</cp:coreProperties>
</file>