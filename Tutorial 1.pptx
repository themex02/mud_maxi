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 Wagner" userId="299fb8deca5794aa" providerId="LiveId" clId="{8BDD2595-85F1-4A87-BAB2-4985FFFD9548}"/>
    <pc:docChg chg="custSel addSld delSld modSld sldOrd">
      <pc:chgData name="Maximilian Wagner" userId="299fb8deca5794aa" providerId="LiveId" clId="{8BDD2595-85F1-4A87-BAB2-4985FFFD9548}" dt="2025-11-17T08:42:00.325" v="87" actId="47"/>
      <pc:docMkLst>
        <pc:docMk/>
      </pc:docMkLst>
      <pc:sldChg chg="modSp mod">
        <pc:chgData name="Maximilian Wagner" userId="299fb8deca5794aa" providerId="LiveId" clId="{8BDD2595-85F1-4A87-BAB2-4985FFFD9548}" dt="2025-11-02T19:57:52.322" v="79" actId="20577"/>
        <pc:sldMkLst>
          <pc:docMk/>
          <pc:sldMk cId="3314196090" sldId="258"/>
        </pc:sldMkLst>
        <pc:graphicFrameChg chg="modGraphic">
          <ac:chgData name="Maximilian Wagner" userId="299fb8deca5794aa" providerId="LiveId" clId="{8BDD2595-85F1-4A87-BAB2-4985FFFD9548}" dt="2025-11-02T19:57:52.322" v="79" actId="20577"/>
          <ac:graphicFrameMkLst>
            <pc:docMk/>
            <pc:sldMk cId="3314196090" sldId="258"/>
            <ac:graphicFrameMk id="4" creationId="{ACE0C6C2-54A1-F05B-564F-2235D810B50A}"/>
          </ac:graphicFrameMkLst>
        </pc:graphicFrameChg>
      </pc:sldChg>
      <pc:sldChg chg="ord">
        <pc:chgData name="Maximilian Wagner" userId="299fb8deca5794aa" providerId="LiveId" clId="{8BDD2595-85F1-4A87-BAB2-4985FFFD9548}" dt="2025-11-02T19:55:24.133" v="17"/>
        <pc:sldMkLst>
          <pc:docMk/>
          <pc:sldMk cId="241491561" sldId="260"/>
        </pc:sldMkLst>
      </pc:sldChg>
      <pc:sldChg chg="addSp delSp modSp mod">
        <pc:chgData name="Maximilian Wagner" userId="299fb8deca5794aa" providerId="LiveId" clId="{8BDD2595-85F1-4A87-BAB2-4985FFFD9548}" dt="2025-11-02T19:55:42.828" v="19" actId="478"/>
        <pc:sldMkLst>
          <pc:docMk/>
          <pc:sldMk cId="1922083465" sldId="262"/>
        </pc:sldMkLst>
      </pc:sldChg>
      <pc:sldChg chg="addSp delSp new del mod">
        <pc:chgData name="Maximilian Wagner" userId="299fb8deca5794aa" providerId="LiveId" clId="{8BDD2595-85F1-4A87-BAB2-4985FFFD9548}" dt="2025-11-17T08:41:55.213" v="85" actId="47"/>
        <pc:sldMkLst>
          <pc:docMk/>
          <pc:sldMk cId="2807364058" sldId="263"/>
        </pc:sldMkLst>
        <pc:picChg chg="add del">
          <ac:chgData name="Maximilian Wagner" userId="299fb8deca5794aa" providerId="LiveId" clId="{8BDD2595-85F1-4A87-BAB2-4985FFFD9548}" dt="2025-11-17T08:41:53.147" v="84" actId="478"/>
          <ac:picMkLst>
            <pc:docMk/>
            <pc:sldMk cId="2807364058" sldId="263"/>
            <ac:picMk id="5" creationId="{77D0FA8B-985C-D513-62B3-669C199FFB63}"/>
          </ac:picMkLst>
        </pc:picChg>
      </pc:sldChg>
      <pc:sldChg chg="addSp delSp new del mod ord">
        <pc:chgData name="Maximilian Wagner" userId="299fb8deca5794aa" providerId="LiveId" clId="{8BDD2595-85F1-4A87-BAB2-4985FFFD9548}" dt="2025-11-17T08:41:56.940" v="86" actId="47"/>
        <pc:sldMkLst>
          <pc:docMk/>
          <pc:sldMk cId="2605810839" sldId="264"/>
        </pc:sldMkLst>
      </pc:sldChg>
      <pc:sldChg chg="addSp delSp new del mod">
        <pc:chgData name="Maximilian Wagner" userId="299fb8deca5794aa" providerId="LiveId" clId="{8BDD2595-85F1-4A87-BAB2-4985FFFD9548}" dt="2025-11-17T08:42:00.325" v="87" actId="47"/>
        <pc:sldMkLst>
          <pc:docMk/>
          <pc:sldMk cId="2473253059" sldId="265"/>
        </pc:sldMkLst>
        <pc:picChg chg="add">
          <ac:chgData name="Maximilian Wagner" userId="299fb8deca5794aa" providerId="LiveId" clId="{8BDD2595-85F1-4A87-BAB2-4985FFFD9548}" dt="2025-11-02T19:55:46.565" v="21" actId="22"/>
          <ac:picMkLst>
            <pc:docMk/>
            <pc:sldMk cId="2473253059" sldId="265"/>
            <ac:picMk id="5" creationId="{0BBCE38E-1051-A343-355C-DF72AAC442F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419587-E169-1040-C862-A1D1D649C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61FE3F9-B25F-0B56-FA27-2B91DC8BC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559E29-BB53-1EF6-3895-0BC7D652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195-700C-42A2-BC01-A3AA1AD1B872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DB0BFA-E603-9300-E755-D782AB534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B1CD5D-9F05-2467-9C12-E466649F8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F5AD-E7B2-4671-9292-ACD4D2AB8E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183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A9BA3C-CAA5-CDFA-BB44-6E1F678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A489AA-8F1C-B46F-A553-96496CDAD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B04B11-1E8F-C0D3-FA25-99C0215E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195-700C-42A2-BC01-A3AA1AD1B872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9961AE-D3E3-518B-0907-35725E1D7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8981E8-859D-6E26-BE3B-1F627C415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F5AD-E7B2-4671-9292-ACD4D2AB8E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50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6ADBF4-D5D7-F7FE-AE04-747EC5E4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F7DCE3-3256-0D81-D8E4-B2A5D2645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35A4AB-0872-6C1E-E520-CB0F60FD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195-700C-42A2-BC01-A3AA1AD1B872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2D5DE2-91A9-E766-26E9-74C74813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53220B-F92A-C5D2-271F-54D7E367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F5AD-E7B2-4671-9292-ACD4D2AB8E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4226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85826B-C51D-341D-3AE2-B1AB08F72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5A66EC-4042-1EB8-0D02-B3A1093AD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62F52E-5ABC-377C-0201-E5219ABD1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785F44-33FA-F529-84C8-A33D26AF7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195-700C-42A2-BC01-A3AA1AD1B872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73B2B6-84D0-C1DF-5142-F1071E6C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BAE2BA-FCA0-DE06-64FE-8ABDB0C7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F5AD-E7B2-4671-9292-ACD4D2AB8E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016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EBDDB-4DBA-F99B-49F8-824BD55EB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4A48A8-8CD2-0C0F-BE8D-C1BC15BAB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0F0625-CC18-1FEA-A935-1C83BBFD8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6C0BE84-4C76-98C0-C7A6-C6707C520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DB6F19-4F9F-991A-89B6-D12DEC1000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350CA4D-D49E-33D3-03D0-28AC36DB4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195-700C-42A2-BC01-A3AA1AD1B872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ADFFEF6-E3F3-4970-5B8C-31E077CF3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BF72DA-10BE-1096-A722-9EB841DEE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F5AD-E7B2-4671-9292-ACD4D2AB8E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555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7CF94A-55AB-88E2-4E85-FBA925B5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F20387-BF28-D64A-EB9D-FC71C551B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195-700C-42A2-BC01-A3AA1AD1B872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E40598-D6D8-7A6D-36CD-F31874DF1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040EBF-C247-C338-010E-917A020C4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F5AD-E7B2-4671-9292-ACD4D2AB8E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772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B52EB5D-6CF3-604F-CADB-4318D2CCE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195-700C-42A2-BC01-A3AA1AD1B872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C5F6A2E-1F2B-ACFD-7519-CBC2425F8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F9BD88-D378-49E1-B9FA-26C6F5E8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F5AD-E7B2-4671-9292-ACD4D2AB8E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212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747E02-CC17-A155-E7F2-8B460C6E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834A44-0567-EBF9-E697-EFA22BC12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CC85173-7B1D-9D18-B3BF-C85E6B281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EB5B81-6131-0E8F-9A04-18D9E10E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195-700C-42A2-BC01-A3AA1AD1B872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5B38D6-81F4-7277-9C81-E39E12A7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45ECD3-2B70-D80A-2719-91D10F2BF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F5AD-E7B2-4671-9292-ACD4D2AB8E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5359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9D93EB-79DB-8ABB-61C7-118DF6AD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730F065-3247-3EF9-4B6C-2A8C8BB14E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7137CC3-2550-674D-93C8-88B6387DC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22BEFBF-66DD-BB2D-126E-42B96C6D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195-700C-42A2-BC01-A3AA1AD1B872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33B446-4A8C-EE87-2612-9C7ED668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8896DF-6433-BF23-48A9-7A9C65E8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F5AD-E7B2-4671-9292-ACD4D2AB8E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436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8A26CF-1197-1B3B-8320-B68FE558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66D0DB7-C66E-1556-9F3F-4B62544B7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797671-5C3F-E361-DDD0-AAB536408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195-700C-42A2-BC01-A3AA1AD1B872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500982-A067-0896-5B22-027CEBE1F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5E04AF-C953-BB54-0E6D-A60FBCBF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F5AD-E7B2-4671-9292-ACD4D2AB8E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010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6781E8C-E87A-756A-4B1D-2F3D848B9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D3E60FB-7862-1351-B468-1A49C158D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72338-1508-1742-D8E6-C4E5E8B6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195-700C-42A2-BC01-A3AA1AD1B872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2CD82E-5B79-B326-D2F6-74804E3A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AACEDC-443C-582D-AD7F-44DAB90F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F5AD-E7B2-4671-9292-ACD4D2AB8E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945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093771C-97D6-C9EF-2B9C-C8AF9625E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E7758E-E3FF-2B8C-A0C6-081A0E20E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3AB067-A820-4E6B-69AA-6E1835F64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B2195-700C-42A2-BC01-A3AA1AD1B872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A0CB1D-24F9-F54C-ABBD-86CD3BE91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4F88FB-8654-287C-492E-C5F8AEBC3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3F5AD-E7B2-4671-9292-ACD4D2AB8E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425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94E1C8-9231-D101-FE2C-172AFB365C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Tutorial 1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0AC8D3-B129-4F6C-72FC-DA383C61B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tummaximilian.wagner@tum.de</a:t>
            </a:r>
          </a:p>
        </p:txBody>
      </p:sp>
    </p:spTree>
    <p:extLst>
      <p:ext uri="{BB962C8B-B14F-4D97-AF65-F5344CB8AC3E}">
        <p14:creationId xmlns:p14="http://schemas.microsoft.com/office/powerpoint/2010/main" val="1193383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F79A-69F9-969E-27CF-D9CF0F71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038803-4117-FA5A-BB4B-BAD15EA4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Tutorial 0 – wichtige Methoden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ACE0C6C2-54A1-F05B-564F-2235D810B5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1631466"/>
              </p:ext>
            </p:extLst>
          </p:nvPr>
        </p:nvGraphicFramePr>
        <p:xfrm>
          <a:off x="838200" y="1825625"/>
          <a:ext cx="10515600" cy="1925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220776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59608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pandas as pd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numpy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np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matplotlib.pyplot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plt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Importiert wichtige Bibliotheken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26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np.linspace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(0, 10, 100)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Zahlenreihe erstellen (</a:t>
                      </a: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r>
                        <a:rPr lang="de-DE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inklusive)</a:t>
                      </a:r>
                      <a:endParaRPr lang="de-DE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93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np.arange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(0, 10, 0.01)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Zahlenreihe erstellen lassen (</a:t>
                      </a: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inklusive – </a:t>
                      </a: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exklusive)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72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196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C4A326-C4EF-4336-4905-CE2CE49A2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Tutorial 1 – wichtige Methoden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29AA2410-5298-C577-FDC4-7E6DF5C2B2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4798914"/>
              </p:ext>
            </p:extLst>
          </p:nvPr>
        </p:nvGraphicFramePr>
        <p:xfrm>
          <a:off x="838200" y="1383173"/>
          <a:ext cx="10515600" cy="519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220776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59608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pd.read_csv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(...)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Liest CSV-Dateien ein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26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csv_data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[‘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Spaltenname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'].values </a:t>
                      </a:r>
                      <a:endParaRPr lang="de-DE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Zugriff auf Spalten aus CSV Datei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27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plt.figure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Neue Grafik erstellen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5387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plt.plot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x, y, 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‘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Titel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color='blue', 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linewidth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=2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Datenlinie zeichnen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154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plt.grid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(True)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Gitternetz anzeigen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860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plt.title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Titel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Diagrammtitel setzen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40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plt.xlabel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Titel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X-Achse beschriften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7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plt.ylabel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Titel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Y-Achse beschriften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085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plt.legend</a:t>
                      </a:r>
                      <a:r>
                        <a:rPr lang="de-DE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Legende anzeigen lassen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8311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plt.show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Grafik anzeigen lassen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5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plt.hist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(traffic_flow_1, density=True, bins = bins)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Histogramm zeichnen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449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Np.mean</a:t>
                      </a:r>
                      <a:r>
                        <a:rPr lang="de-DE" dirty="0"/>
                        <a:t>(</a:t>
                      </a:r>
                      <a:r>
                        <a:rPr lang="de-DE" dirty="0" err="1"/>
                        <a:t>data</a:t>
                      </a:r>
                      <a:r>
                        <a:rPr lang="de-DE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Berechnet Durchschnitt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452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Np.median</a:t>
                      </a:r>
                      <a:r>
                        <a:rPr lang="de-DE" dirty="0"/>
                        <a:t>(</a:t>
                      </a:r>
                      <a:r>
                        <a:rPr lang="de-DE" dirty="0" err="1"/>
                        <a:t>data</a:t>
                      </a:r>
                      <a:r>
                        <a:rPr lang="de-DE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Berechnet Median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893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Np.std</a:t>
                      </a:r>
                      <a:r>
                        <a:rPr lang="de-DE" dirty="0"/>
                        <a:t>(</a:t>
                      </a:r>
                      <a:r>
                        <a:rPr lang="de-DE" dirty="0" err="1"/>
                        <a:t>data</a:t>
                      </a:r>
                      <a:r>
                        <a:rPr lang="de-DE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Berechnet Standardabweichung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024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88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21907-92F6-2E2F-06D3-23893932A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763EE2-1220-1CD7-13FC-FE6BC872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Tutorial 1 – wichtige Methoden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3872D9F1-EBBD-652E-AC18-2D8360E6E5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3331379"/>
              </p:ext>
            </p:extLst>
          </p:nvPr>
        </p:nvGraphicFramePr>
        <p:xfrm>
          <a:off x="838200" y="1383173"/>
          <a:ext cx="105156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220776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59608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plt.axvline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(data)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Zeichnet eine vertikale Linie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26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Maximum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27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min(</a:t>
                      </a: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Minimum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5387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Np.cov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(data1,data2)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Kovarianz berechnen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154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Np.corrcoef</a:t>
                      </a:r>
                      <a:r>
                        <a:rPr lang="de-D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(data1,data2)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Korrelation berechnen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860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Np.cumsum</a:t>
                      </a:r>
                      <a:r>
                        <a:rPr lang="de-DE" dirty="0"/>
                        <a:t>(</a:t>
                      </a:r>
                      <a:r>
                        <a:rPr lang="de-DE" dirty="0" err="1"/>
                        <a:t>data</a:t>
                      </a:r>
                      <a:r>
                        <a:rPr lang="de-DE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Kummulativesumme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40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Np.quantile</a:t>
                      </a:r>
                      <a:r>
                        <a:rPr lang="de-DE" dirty="0"/>
                        <a:t>(</a:t>
                      </a:r>
                      <a:r>
                        <a:rPr lang="de-DE" dirty="0" err="1"/>
                        <a:t>data,quantile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levels</a:t>
                      </a:r>
                      <a:r>
                        <a:rPr lang="de-DE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Berechnet die </a:t>
                      </a:r>
                      <a:r>
                        <a:rPr lang="de-DE" dirty="0" err="1"/>
                        <a:t>Quantilewerte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5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Np.diff</a:t>
                      </a:r>
                      <a:r>
                        <a:rPr lang="de-DE" dirty="0"/>
                        <a:t>(</a:t>
                      </a:r>
                      <a:r>
                        <a:rPr lang="de-DE" dirty="0" err="1"/>
                        <a:t>data</a:t>
                      </a:r>
                      <a:r>
                        <a:rPr lang="de-DE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Berechnet Differenz zwischen Datenpunkten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44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221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86E908-1097-D6A3-3698-B59D4F303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Korrelationscoeff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46F042-91E0-62BC-A6E8-35625594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1800" dirty="0">
                <a:latin typeface="Arial" panose="020B0604020202020204" pitchFamily="34" charset="0"/>
              </a:rPr>
              <a:t>Wertebereich: </a:t>
            </a:r>
            <a:r>
              <a:rPr lang="de-DE" altLang="de-DE" sz="1800" b="1" dirty="0">
                <a:latin typeface="Arial" panose="020B0604020202020204" pitchFamily="34" charset="0"/>
              </a:rPr>
              <a:t>-1 bis +1</a:t>
            </a:r>
            <a:endParaRPr lang="de-DE" altLang="de-DE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1800" b="1" dirty="0">
                <a:latin typeface="Arial" panose="020B0604020202020204" pitchFamily="34" charset="0"/>
              </a:rPr>
              <a:t>+1</a:t>
            </a:r>
            <a:r>
              <a:rPr lang="de-DE" altLang="de-DE" sz="1800" dirty="0">
                <a:latin typeface="Arial" panose="020B0604020202020204" pitchFamily="34" charset="0"/>
              </a:rPr>
              <a:t> = perfekte positive Korrelation (beide Variablen steigen gemeinsam)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1800" b="1" dirty="0">
                <a:latin typeface="Arial" panose="020B0604020202020204" pitchFamily="34" charset="0"/>
              </a:rPr>
              <a:t>-1</a:t>
            </a:r>
            <a:r>
              <a:rPr lang="de-DE" altLang="de-DE" sz="1800" dirty="0">
                <a:latin typeface="Arial" panose="020B0604020202020204" pitchFamily="34" charset="0"/>
              </a:rPr>
              <a:t> = perfekte negative Korrelation (eine Variable steigt, die andere fällt)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1800" b="1" dirty="0">
                <a:latin typeface="Arial" panose="020B0604020202020204" pitchFamily="34" charset="0"/>
              </a:rPr>
              <a:t>0</a:t>
            </a:r>
            <a:r>
              <a:rPr lang="de-DE" altLang="de-DE" sz="1800" dirty="0">
                <a:latin typeface="Arial" panose="020B0604020202020204" pitchFamily="34" charset="0"/>
              </a:rPr>
              <a:t> = keine lineare Korrelation (lin. Unabhängigkeit möglich)</a:t>
            </a:r>
          </a:p>
          <a:p>
            <a:pPr marL="0" indent="0">
              <a:buNone/>
            </a:pPr>
            <a:endParaRPr lang="de-DE" sz="1800" dirty="0"/>
          </a:p>
        </p:txBody>
      </p:sp>
      <p:pic>
        <p:nvPicPr>
          <p:cNvPr id="2050" name="Picture 2" descr="Correlation and Auto-correlation - An Easy Primer on 2 Key Concepts">
            <a:extLst>
              <a:ext uri="{FF2B5EF4-FFF2-40B4-BE49-F238E27FC236}">
                <a16:creationId xmlns:a16="http://schemas.microsoft.com/office/drawing/2014/main" id="{D66942AB-2DE3-D458-8E09-1A2092610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426" y="4165774"/>
            <a:ext cx="435292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91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D5A0D-49E8-B8D0-E532-2FC791E4B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2C7EE4-D36B-2E6B-7BA8-681DEDA53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Quantile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6250A2-70E5-4E0F-B18D-E45006FBC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b="1" dirty="0"/>
              <a:t>0.25-Quantil (25%)</a:t>
            </a:r>
            <a:r>
              <a:rPr lang="de-DE" sz="2000" dirty="0"/>
              <a:t>: 25 % der Werte sind </a:t>
            </a:r>
            <a:r>
              <a:rPr lang="de-DE" sz="2000" b="1" dirty="0"/>
              <a:t>kleiner oder gleich</a:t>
            </a:r>
            <a:r>
              <a:rPr lang="de-DE" sz="2000" dirty="0"/>
              <a:t> diesem Wert → auch </a:t>
            </a:r>
            <a:r>
              <a:rPr lang="de-DE" sz="2000" b="1" dirty="0"/>
              <a:t>1. Quartil</a:t>
            </a:r>
            <a:r>
              <a:rPr lang="de-DE" sz="2000" dirty="0"/>
              <a:t> genannt.</a:t>
            </a:r>
          </a:p>
          <a:p>
            <a:r>
              <a:rPr lang="de-DE" sz="2000" b="1" dirty="0"/>
              <a:t>0.50-Quantil (50%)</a:t>
            </a:r>
            <a:r>
              <a:rPr lang="de-DE" sz="2000" dirty="0"/>
              <a:t>: 50 % der Werte sind kleiner oder gleich → das ist der </a:t>
            </a:r>
            <a:r>
              <a:rPr lang="de-DE" sz="2000" b="1" dirty="0"/>
              <a:t>Median</a:t>
            </a:r>
            <a:r>
              <a:rPr lang="de-DE" sz="2000" dirty="0"/>
              <a:t>.</a:t>
            </a:r>
          </a:p>
          <a:p>
            <a:r>
              <a:rPr lang="de-DE" sz="2000" b="1" dirty="0"/>
              <a:t>0.75-Quantil (75%)</a:t>
            </a:r>
            <a:r>
              <a:rPr lang="de-DE" sz="2000" dirty="0"/>
              <a:t>: 75 % der Werte sind kleiner oder gleich → </a:t>
            </a:r>
            <a:r>
              <a:rPr lang="de-DE" sz="2000" b="1" dirty="0"/>
              <a:t>3. Quartil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922083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Office PowerPoint</Application>
  <PresentationFormat>Breitbild</PresentationFormat>
  <Paragraphs>66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Tutorial 1</vt:lpstr>
      <vt:lpstr>Tutorial 0 – wichtige Methoden</vt:lpstr>
      <vt:lpstr>Tutorial 1 – wichtige Methoden</vt:lpstr>
      <vt:lpstr>Tutorial 1 – wichtige Methoden</vt:lpstr>
      <vt:lpstr>Korrelationscoeff</vt:lpstr>
      <vt:lpstr>Quantile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 Wagner</dc:creator>
  <cp:lastModifiedBy>Maximilian Wagner</cp:lastModifiedBy>
  <cp:revision>1</cp:revision>
  <dcterms:created xsi:type="dcterms:W3CDTF">2025-10-17T06:41:21Z</dcterms:created>
  <dcterms:modified xsi:type="dcterms:W3CDTF">2025-11-17T08:42:03Z</dcterms:modified>
</cp:coreProperties>
</file>