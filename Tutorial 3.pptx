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8" r:id="rId3"/>
    <p:sldId id="271" r:id="rId4"/>
    <p:sldId id="272" r:id="rId5"/>
    <p:sldId id="269" r:id="rId6"/>
    <p:sldId id="273" r:id="rId7"/>
    <p:sldId id="267" r:id="rId8"/>
    <p:sldId id="274" r:id="rId9"/>
    <p:sldId id="275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AD4468-8F80-42E0-8FE7-41155A87533E}" v="34" dt="2025-11-29T10:27:09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4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 Wagner" userId="299fb8deca5794aa" providerId="LiveId" clId="{8BDD2595-85F1-4A87-BAB2-4985FFFD9548}"/>
    <pc:docChg chg="undo custSel addSld delSld modSld sldOrd">
      <pc:chgData name="Maximilian Wagner" userId="299fb8deca5794aa" providerId="LiveId" clId="{8BDD2595-85F1-4A87-BAB2-4985FFFD9548}" dt="2025-11-29T13:35:41.478" v="1911" actId="478"/>
      <pc:docMkLst>
        <pc:docMk/>
      </pc:docMkLst>
      <pc:sldChg chg="addSp delSp modSp mod">
        <pc:chgData name="Maximilian Wagner" userId="299fb8deca5794aa" providerId="LiveId" clId="{8BDD2595-85F1-4A87-BAB2-4985FFFD9548}" dt="2025-11-29T10:27:18.746" v="1874" actId="20577"/>
        <pc:sldMkLst>
          <pc:docMk/>
          <pc:sldMk cId="2419550605" sldId="269"/>
        </pc:sldMkLst>
        <pc:spChg chg="add del mod">
          <ac:chgData name="Maximilian Wagner" userId="299fb8deca5794aa" providerId="LiveId" clId="{8BDD2595-85F1-4A87-BAB2-4985FFFD9548}" dt="2025-11-29T10:26:28.248" v="1829" actId="21"/>
          <ac:spMkLst>
            <pc:docMk/>
            <pc:sldMk cId="2419550605" sldId="269"/>
            <ac:spMk id="5" creationId="{586F49C7-8908-35FC-AE77-0D8A572C8AB4}"/>
          </ac:spMkLst>
        </pc:spChg>
        <pc:spChg chg="add mod">
          <ac:chgData name="Maximilian Wagner" userId="299fb8deca5794aa" providerId="LiveId" clId="{8BDD2595-85F1-4A87-BAB2-4985FFFD9548}" dt="2025-11-29T10:27:18.746" v="1874" actId="20577"/>
          <ac:spMkLst>
            <pc:docMk/>
            <pc:sldMk cId="2419550605" sldId="269"/>
            <ac:spMk id="6" creationId="{988462B8-68BE-ADB1-3A1C-1EF686E35E15}"/>
          </ac:spMkLst>
        </pc:spChg>
        <pc:picChg chg="mod">
          <ac:chgData name="Maximilian Wagner" userId="299fb8deca5794aa" providerId="LiveId" clId="{8BDD2595-85F1-4A87-BAB2-4985FFFD9548}" dt="2025-11-29T10:26:05.502" v="1822" actId="1076"/>
          <ac:picMkLst>
            <pc:docMk/>
            <pc:sldMk cId="2419550605" sldId="269"/>
            <ac:picMk id="4" creationId="{7E27B006-D678-E2FD-024C-9CBCA27D3514}"/>
          </ac:picMkLst>
        </pc:picChg>
      </pc:sldChg>
      <pc:sldChg chg="addSp delSp modSp add mod">
        <pc:chgData name="Maximilian Wagner" userId="299fb8deca5794aa" providerId="LiveId" clId="{8BDD2595-85F1-4A87-BAB2-4985FFFD9548}" dt="2025-11-29T10:27:09.296" v="1864" actId="313"/>
        <pc:sldMkLst>
          <pc:docMk/>
          <pc:sldMk cId="1412393013" sldId="273"/>
        </pc:sldMkLst>
        <pc:spChg chg="add del mod">
          <ac:chgData name="Maximilian Wagner" userId="299fb8deca5794aa" providerId="LiveId" clId="{8BDD2595-85F1-4A87-BAB2-4985FFFD9548}" dt="2025-11-29T10:26:22.842" v="1826" actId="21"/>
          <ac:spMkLst>
            <pc:docMk/>
            <pc:sldMk cId="1412393013" sldId="273"/>
            <ac:spMk id="3" creationId="{988462B8-68BE-ADB1-3A1C-1EF686E35E15}"/>
          </ac:spMkLst>
        </pc:spChg>
        <pc:spChg chg="add mod">
          <ac:chgData name="Maximilian Wagner" userId="299fb8deca5794aa" providerId="LiveId" clId="{8BDD2595-85F1-4A87-BAB2-4985FFFD9548}" dt="2025-11-29T10:27:09.296" v="1864" actId="313"/>
          <ac:spMkLst>
            <pc:docMk/>
            <pc:sldMk cId="1412393013" sldId="273"/>
            <ac:spMk id="4" creationId="{586F49C7-8908-35FC-AE77-0D8A572C8AB4}"/>
          </ac:spMkLst>
        </pc:spChg>
        <pc:picChg chg="mod">
          <ac:chgData name="Maximilian Wagner" userId="299fb8deca5794aa" providerId="LiveId" clId="{8BDD2595-85F1-4A87-BAB2-4985FFFD9548}" dt="2025-11-29T10:26:20.281" v="1825" actId="1076"/>
          <ac:picMkLst>
            <pc:docMk/>
            <pc:sldMk cId="1412393013" sldId="273"/>
            <ac:picMk id="5" creationId="{8997932C-AECA-65D1-5AE0-BA6BD948D5C6}"/>
          </ac:picMkLst>
        </pc:picChg>
      </pc:sldChg>
      <pc:sldChg chg="addSp delSp modSp new mod">
        <pc:chgData name="Maximilian Wagner" userId="299fb8deca5794aa" providerId="LiveId" clId="{8BDD2595-85F1-4A87-BAB2-4985FFFD9548}" dt="2025-11-29T13:35:41.478" v="1911" actId="478"/>
        <pc:sldMkLst>
          <pc:docMk/>
          <pc:sldMk cId="3341521464" sldId="275"/>
        </pc:sldMkLst>
        <pc:spChg chg="mod">
          <ac:chgData name="Maximilian Wagner" userId="299fb8deca5794aa" providerId="LiveId" clId="{8BDD2595-85F1-4A87-BAB2-4985FFFD9548}" dt="2025-11-29T13:35:36.650" v="1910" actId="20577"/>
          <ac:spMkLst>
            <pc:docMk/>
            <pc:sldMk cId="3341521464" sldId="275"/>
            <ac:spMk id="2" creationId="{A9D16E7D-EA0F-FB65-4C15-A64207EA438F}"/>
          </ac:spMkLst>
        </pc:spChg>
        <pc:spChg chg="del">
          <ac:chgData name="Maximilian Wagner" userId="299fb8deca5794aa" providerId="LiveId" clId="{8BDD2595-85F1-4A87-BAB2-4985FFFD9548}" dt="2025-11-29T13:35:41.478" v="1911" actId="478"/>
          <ac:spMkLst>
            <pc:docMk/>
            <pc:sldMk cId="3341521464" sldId="275"/>
            <ac:spMk id="3" creationId="{963ADAB8-366F-045E-A6B8-92E5E8690559}"/>
          </ac:spMkLst>
        </pc:spChg>
        <pc:picChg chg="add mod">
          <ac:chgData name="Maximilian Wagner" userId="299fb8deca5794aa" providerId="LiveId" clId="{8BDD2595-85F1-4A87-BAB2-4985FFFD9548}" dt="2025-11-29T13:35:28.538" v="1879" actId="1076"/>
          <ac:picMkLst>
            <pc:docMk/>
            <pc:sldMk cId="3341521464" sldId="275"/>
            <ac:picMk id="5" creationId="{C1C2F2FF-023F-2823-D841-C1B0EFD3199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445A1E-C5A2-620A-A6FE-C50F321A0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A69FD-3F1B-9FF5-FA27-FB74FE410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7751EA-CE4F-0632-FAAD-053EF915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20AA23-1919-BFCA-3AE4-F868953E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393E0F-0294-B90E-ED48-C78E3DAC9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6131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DCD6AD-DCEC-6320-7FB6-4282A70D2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D972B5-8B3F-077E-7727-FDF5D0A17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9A8B09-A857-7B28-6B18-EBADD3071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47D121-B4C5-F70E-AB08-43F1B273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9EB91-B012-0A54-C249-5E2EFF7B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74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E9373E-BDA9-035C-6A2A-A367A3CA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9ECE4F-013E-818A-F88C-A1BE04AE0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1F99E1-3668-D8B1-30FF-1285372F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9412D6-7712-1A84-855B-667E916E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8E2AEA-C6E7-FC74-4B16-2F2ED5A2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441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AAD007-7BEF-64FE-79F0-1B093C351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2F7B9F-B71F-41E2-5424-5E57EB0784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EA636CA-59E7-45C7-5CC9-E50BB72EC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16FC04-7196-1D06-EF22-8BAA6E33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C816EA-295D-6BEF-7277-8D84923D3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D86A50-E7A9-4530-F480-803DFE2A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203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C411C5-F986-90EE-467C-DB37133A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0E695F-3431-3826-409F-46FAECA0B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BA8C2F-7BBE-4173-E3C7-32FC776F7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086C516-7290-B50B-DEED-8553B915E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4A630B-5758-3346-F088-42EF3C43C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07492E5-20EE-09F8-E532-65384123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838F027-6657-7EFD-1D32-8C4DADCE2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0B6FBE-0E7D-8190-F83A-CA51F3143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08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705F61-625D-0B6F-71F8-308DAC72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F30595-1784-4A0E-607D-2F95304B2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18443A-5ABC-0C9D-0487-A4901EC2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7225459-B893-5016-FFEF-EFDE18D6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398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1ABF77-8C32-2FF5-EAE6-A6DE3C60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4B2AE3-A7CE-A6CC-B174-81F348CF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E7D533-9776-E0C1-2A7D-26F4CF6C1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969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243BC1-4E5C-D313-6DD7-F2B603A00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2E1690-3213-CA21-D4A3-F39FF5306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3306B4-A69B-B2BA-E445-E781AE4FD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8DCC38-F7D2-E729-BCEF-CE39F224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1BD28A-D476-4044-DBE4-85E6E3E6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39C6C6-8B05-1335-A969-1B32020D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049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97DC31-BF45-FD94-E2DF-12F1E5A0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FD5A025-50BE-86C9-8FFB-A77B401B1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C6C717-7DFF-9BE1-C56E-9F78A5FA6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56401F-2839-9BB9-420B-733F4F94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ED15FA-BF25-93B4-4F4B-38B5FDEFF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610691-5B0B-D371-7A14-D6A2D5BE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3575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2962CD-92FB-683E-DBDE-F3241932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32C11B-23EF-A154-9704-BFBBE997F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94E736-A41B-6BAA-ABB6-2AF5864A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5AC03A-3FE8-22D7-BF79-0A5893A3B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0132E1-6388-1794-570B-DAECE100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373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C83E610-9B12-C840-BF46-E4841EBFD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5C53B9-1E39-A624-9FB6-185AA99A8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252F40-14F2-B02C-3094-F70402099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B7CD4E-E32B-DE17-F02D-8DA7DAB1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4261E8-2C24-45C7-7A44-6BA4CC12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678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969DBD-BC5C-23BE-9347-4DA14047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883DDA-E123-8A64-BA1F-31125E74E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87A4FE-1D2C-3570-7971-72B42E5588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FC414-7A6C-4B23-8128-F2E69093C0B3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2632DF-AC06-88C6-FDE1-DA91F69DD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2CC61E-BBD3-28D7-4426-41AF5FD2B9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022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5CAD5-2216-60D0-CC1F-69C866AF4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110B63-78D5-6931-482D-D08108447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Tutorial 3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8260471-F60F-CB78-8993-67000BA947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tummaximilian.wagner@tum.de</a:t>
            </a:r>
          </a:p>
        </p:txBody>
      </p:sp>
      <p:pic>
        <p:nvPicPr>
          <p:cNvPr id="7" name="Grafik 6" descr="Ein Bild, das Muster, Grafiken, Pixel, Design enthält.&#10;&#10;KI-generierte Inhalte können fehlerhaft sein.">
            <a:extLst>
              <a:ext uri="{FF2B5EF4-FFF2-40B4-BE49-F238E27FC236}">
                <a16:creationId xmlns:a16="http://schemas.microsoft.com/office/drawing/2014/main" id="{C6F09A47-1070-33B0-E293-4C941208E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460" y="4786777"/>
            <a:ext cx="1735286" cy="173528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84C861B-0CEA-D707-6C13-4159EAE21549}"/>
              </a:ext>
            </a:extLst>
          </p:cNvPr>
          <p:cNvSpPr txBox="1"/>
          <p:nvPr/>
        </p:nvSpPr>
        <p:spPr>
          <a:xfrm>
            <a:off x="217496" y="6438281"/>
            <a:ext cx="37732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/>
              <a:t>Cheatsheet</a:t>
            </a:r>
            <a:r>
              <a:rPr lang="de-DE" sz="1000" dirty="0"/>
              <a:t>: https://github.com/latex4ei/Stochastische-Signale </a:t>
            </a:r>
          </a:p>
        </p:txBody>
      </p:sp>
    </p:spTree>
    <p:extLst>
      <p:ext uri="{BB962C8B-B14F-4D97-AF65-F5344CB8AC3E}">
        <p14:creationId xmlns:p14="http://schemas.microsoft.com/office/powerpoint/2010/main" val="594298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02A778-E679-36D5-9A39-B2BBA7D4C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Gleichverteilungen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93763B5-CCA3-2C2E-EA4A-1A9A83F48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443" y="1592315"/>
            <a:ext cx="5701113" cy="38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37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B534-9D32-2D2C-8171-4AA05167A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F60B8B-ECD1-40A1-0834-CC052EB0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Normalverteilung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AB87E82-7947-F65C-1EC1-DCA8FC2C3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354" y="1439365"/>
            <a:ext cx="5235292" cy="465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28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30311-9A3C-F12E-4DDE-30B6DE655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C4A8CE-6A68-426A-9AFD-6FE3F2F77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Bernoulliverteilung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974003F-E225-630B-E74C-6688DC379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261" y="1521560"/>
            <a:ext cx="5604720" cy="323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144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002BC-D86F-3F88-9F00-B350A7D12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9C4AD9-F023-223E-F70A-4DE650F25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Binomialverteilung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E27B006-D678-E2FD-024C-9CBCA27D3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263" y="1447998"/>
            <a:ext cx="4892464" cy="504487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88462B8-68BE-ADB1-3A1C-1EF686E35E15}"/>
              </a:ext>
            </a:extLst>
          </p:cNvPr>
          <p:cNvSpPr txBox="1"/>
          <p:nvPr/>
        </p:nvSpPr>
        <p:spPr>
          <a:xfrm>
            <a:off x="960120" y="2967461"/>
            <a:ext cx="5135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Die Binomialverteilung beschreibt die Wahrscheinlichkeit, dass bei </a:t>
            </a:r>
            <a:r>
              <a:rPr lang="de-DE" b="1" dirty="0"/>
              <a:t>n unabhängigen Versuchen (diskret)</a:t>
            </a:r>
            <a:r>
              <a:rPr lang="de-DE" dirty="0"/>
              <a:t> ein Ereignis mit Wahrscheinlichkeit </a:t>
            </a:r>
            <a:r>
              <a:rPr lang="de-DE" b="1" dirty="0"/>
              <a:t>p</a:t>
            </a:r>
            <a:r>
              <a:rPr lang="de-DE" dirty="0"/>
              <a:t> genau </a:t>
            </a:r>
            <a:r>
              <a:rPr lang="de-DE" b="1" dirty="0"/>
              <a:t>k Mal</a:t>
            </a:r>
            <a:r>
              <a:rPr lang="de-DE" dirty="0"/>
              <a:t> eintritt.</a:t>
            </a:r>
          </a:p>
        </p:txBody>
      </p:sp>
    </p:spTree>
    <p:extLst>
      <p:ext uri="{BB962C8B-B14F-4D97-AF65-F5344CB8AC3E}">
        <p14:creationId xmlns:p14="http://schemas.microsoft.com/office/powerpoint/2010/main" val="2419550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F40EA-BBF1-54F0-352E-3B0B2C96D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6C5F11-1CF3-2846-F299-E050F6ADF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Poissonverteilung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997932C-AECA-65D1-5AE0-BA6BD948D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898" y="1267471"/>
            <a:ext cx="5014395" cy="46257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86F49C7-8908-35FC-AE77-0D8A572C8AB4}"/>
                  </a:ext>
                </a:extLst>
              </p:cNvPr>
              <p:cNvSpPr txBox="1"/>
              <p:nvPr/>
            </p:nvSpPr>
            <p:spPr>
              <a:xfrm>
                <a:off x="629273" y="2967335"/>
                <a:ext cx="5123345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dirty="0"/>
                  <a:t>Die </a:t>
                </a:r>
                <a:r>
                  <a:rPr lang="de-DE" dirty="0" err="1"/>
                  <a:t>Poissonverteilung</a:t>
                </a:r>
                <a:r>
                  <a:rPr lang="de-DE" dirty="0"/>
                  <a:t> beschreibt die Wahrscheinlichkeit, dass ein Ereignis innerhalb eines </a:t>
                </a:r>
                <a:r>
                  <a:rPr lang="de-DE" b="1" dirty="0"/>
                  <a:t>bestimmten Zeitraums oder Raums (kontinuierlich)</a:t>
                </a:r>
                <a:r>
                  <a:rPr lang="de-DE" dirty="0"/>
                  <a:t> eine bestimmte Anzahl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e-DE" dirty="0"/>
                  <a:t> Mal auftritt, wenn das Ereignis </a:t>
                </a:r>
                <a:r>
                  <a:rPr lang="de-DE" b="1" dirty="0"/>
                  <a:t>selten</a:t>
                </a:r>
                <a:r>
                  <a:rPr lang="de-DE" dirty="0"/>
                  <a:t> ist.</a:t>
                </a:r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86F49C7-8908-35FC-AE77-0D8A572C8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73" y="2967335"/>
                <a:ext cx="5123345" cy="1477328"/>
              </a:xfrm>
              <a:prstGeom prst="rect">
                <a:avLst/>
              </a:prstGeom>
              <a:blipFill>
                <a:blip r:embed="rId3"/>
                <a:stretch>
                  <a:fillRect t="-2066" b="-6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2393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6B48-D2FA-BCE3-6004-373E58F2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96F085-199E-232A-5084-17DC1997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Tutorial 3 – wichtige Methoden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Inhaltsplatzhalter 3">
                <a:extLst>
                  <a:ext uri="{FF2B5EF4-FFF2-40B4-BE49-F238E27FC236}">
                    <a16:creationId xmlns:a16="http://schemas.microsoft.com/office/drawing/2014/main" id="{B57BED57-D5EE-8805-D192-EEA3C02C5A7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0559559"/>
                  </p:ext>
                </p:extLst>
              </p:nvPr>
            </p:nvGraphicFramePr>
            <p:xfrm>
              <a:off x="838200" y="1825625"/>
              <a:ext cx="10515600" cy="45821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922077610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4596088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List = []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Initialisiert eine leere Liste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903262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a-DK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List.append(element)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Hinzufügen eines Elements am Ende der Liste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4932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np.random.binomial(n, p, num_vals)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Anzahl der Erfolge in n unabhängigen Bernoulli-Experimenten mit Erfolgswahrscheinlichkeit p.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7891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np.random.poisson(lam, num_vals)</a:t>
                          </a:r>
                        </a:p>
                        <a:p>
                          <a:endParaRPr lang="da-DK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Modelliert Anzahl Ereignisse in festem Intervall bei bekanntem Erwartungswert λ.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53275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np.random.normal(mu, sigma, num_vals)</a:t>
                          </a:r>
                        </a:p>
                        <a:p>
                          <a:endParaRPr lang="da-DK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Glockenkurve, symmetrisch um Mittelwert µ und Standardabweichung </a:t>
                          </a:r>
                          <a14:m>
                            <m:oMath xmlns:m="http://schemas.openxmlformats.org/officeDocument/2006/math">
                              <m:r>
                                <a:rPr lang="de-D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oMath>
                          </a14:m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89190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np.random.uniform(a, b, num_vals)</a:t>
                          </a:r>
                        </a:p>
                        <a:p>
                          <a:endParaRPr lang="da-DK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Gleichverteilte Zufallszahlen im Intervall </a:t>
                          </a:r>
                          <a:r>
                            <a:rPr lang="de-DE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[a, b)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311831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a-DK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int(float_number)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Convert a floating-point number to an integer by truncating the decimal part (not rounding).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95982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a-DK" sz="1800" b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float(‘inf’)</a:t>
                          </a:r>
                          <a:endParaRPr lang="da-DK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It creates a special floating-point value that is greater than all other numbers.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420378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Inhaltsplatzhalter 3">
                <a:extLst>
                  <a:ext uri="{FF2B5EF4-FFF2-40B4-BE49-F238E27FC236}">
                    <a16:creationId xmlns:a16="http://schemas.microsoft.com/office/drawing/2014/main" id="{B57BED57-D5EE-8805-D192-EEA3C02C5A7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0559559"/>
                  </p:ext>
                </p:extLst>
              </p:nvPr>
            </p:nvGraphicFramePr>
            <p:xfrm>
              <a:off x="838200" y="1825625"/>
              <a:ext cx="10515600" cy="45821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922077610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4596088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List = []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Initialisiert eine leere Liste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903262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a-DK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List.append(element)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Hinzufügen eines Elements am Ende der Liste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4932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np.random.binomial(n, p, num_vals)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Anzahl der Erfolge in n unabhängigen Bernoulli-Experimenten mit Erfolgswahrscheinlichkeit p.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789123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np.random.poisson(lam, num_vals)</a:t>
                          </a:r>
                        </a:p>
                        <a:p>
                          <a:endParaRPr lang="da-DK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Modelliert Anzahl Ereignisse in festem Intervall bei bekanntem Erwartungswert λ.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5327591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np.random.normal(mu, sigma, num_vals)</a:t>
                          </a:r>
                        </a:p>
                        <a:p>
                          <a:endParaRPr lang="da-DK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116" t="-320000" r="-232" b="-31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891909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np.random.uniform(a, b, num_vals)</a:t>
                          </a:r>
                        </a:p>
                        <a:p>
                          <a:endParaRPr lang="da-DK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Gleichverteilte Zufallszahlen im Intervall </a:t>
                          </a:r>
                          <a:r>
                            <a:rPr lang="de-DE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[a, b)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3118313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da-DK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int(float_number)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Convert a floating-point number to an integer by truncating the decimal part (not rounding).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959826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da-DK" sz="1800" b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float(‘inf’)</a:t>
                          </a:r>
                          <a:endParaRPr lang="da-DK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It creates a special floating-point value that is greater than all other numbers.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420378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1383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44CA0C-B682-9A1F-9955-66AB307CB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2b)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BCBAD72-8044-E556-3442-F4DB3CB00FAF}"/>
              </a:ext>
            </a:extLst>
          </p:cNvPr>
          <p:cNvGrpSpPr/>
          <p:nvPr/>
        </p:nvGrpSpPr>
        <p:grpSpPr>
          <a:xfrm>
            <a:off x="1214499" y="4021059"/>
            <a:ext cx="8939035" cy="2290348"/>
            <a:chOff x="1214499" y="4021059"/>
            <a:chExt cx="8939035" cy="2290348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BF2610C4-84E0-3ADA-2A8F-CCD77D200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" t="57581" r="1236" b="-6245"/>
            <a:stretch>
              <a:fillRect/>
            </a:stretch>
          </p:blipFill>
          <p:spPr>
            <a:xfrm>
              <a:off x="1214499" y="4021059"/>
              <a:ext cx="8826179" cy="1249751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06306246-366D-8B87-8FAD-E9625C3DBECB}"/>
                </a:ext>
              </a:extLst>
            </p:cNvPr>
            <p:cNvSpPr txBox="1"/>
            <p:nvPr/>
          </p:nvSpPr>
          <p:spPr>
            <a:xfrm>
              <a:off x="1214499" y="5388077"/>
              <a:ext cx="893903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Nach dem Zentralen Grenzwertsatz (ZGS) nähert sich die Summe vieler unabhängiger, identisch verteilter Zufallsvariablen einer Normalverteilung an, unabhängig von der Form der ursprünglichen Verteilung.</a:t>
              </a: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E130B21-30A8-3FE2-ADAD-E25336CC17B0}"/>
              </a:ext>
            </a:extLst>
          </p:cNvPr>
          <p:cNvGrpSpPr/>
          <p:nvPr/>
        </p:nvGrpSpPr>
        <p:grpSpPr>
          <a:xfrm>
            <a:off x="1158070" y="1690688"/>
            <a:ext cx="8939035" cy="1607379"/>
            <a:chOff x="1158070" y="1690688"/>
            <a:chExt cx="8939035" cy="1607379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9A39CAD7-999C-1CE3-F5D6-050CEBD5A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2520"/>
            <a:stretch>
              <a:fillRect/>
            </a:stretch>
          </p:blipFill>
          <p:spPr>
            <a:xfrm>
              <a:off x="1158070" y="1690688"/>
              <a:ext cx="8939035" cy="962535"/>
            </a:xfrm>
            <a:prstGeom prst="rect">
              <a:avLst/>
            </a:prstGeom>
          </p:spPr>
        </p:pic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ECB6E084-E93E-7000-50CA-CEE071DD6C5E}"/>
                </a:ext>
              </a:extLst>
            </p:cNvPr>
            <p:cNvSpPr txBox="1"/>
            <p:nvPr/>
          </p:nvSpPr>
          <p:spPr>
            <a:xfrm>
              <a:off x="1158070" y="2651736"/>
              <a:ext cx="88826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Im Grunde beginnt die Binomialverteilung, sich so zu verhalten, als würde sie seltene Ereignisse zählen, die zufällig auftreten, aber mit einer festen durchschnittlichen Rate 𝜆.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988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D16E7D-EA0F-FB65-4C15-A64207EA4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Zentraler Grenzwertsatz</a:t>
            </a:r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C1C2F2FF-023F-2823-D841-C1B0EFD31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8" y="1825625"/>
            <a:ext cx="6729043" cy="450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21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Breitbild</PresentationFormat>
  <Paragraphs>31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</vt:lpstr>
      <vt:lpstr>Tutorial 3</vt:lpstr>
      <vt:lpstr>Gleichverteilungen</vt:lpstr>
      <vt:lpstr>Normalverteilung</vt:lpstr>
      <vt:lpstr>Bernoulliverteilung</vt:lpstr>
      <vt:lpstr>Binomialverteilung</vt:lpstr>
      <vt:lpstr>Poissonverteilung</vt:lpstr>
      <vt:lpstr>Tutorial 3 – wichtige Methoden</vt:lpstr>
      <vt:lpstr>Aufgabe 2b)</vt:lpstr>
      <vt:lpstr>Zentraler Grenzwertsatz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 Wagner</dc:creator>
  <cp:lastModifiedBy>Maximilian Wagner</cp:lastModifiedBy>
  <cp:revision>1</cp:revision>
  <dcterms:created xsi:type="dcterms:W3CDTF">2025-10-17T12:10:01Z</dcterms:created>
  <dcterms:modified xsi:type="dcterms:W3CDTF">2025-11-29T13:35:43Z</dcterms:modified>
</cp:coreProperties>
</file>